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1280" y="-3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1.png"/><Relationship Id="rId7" Type="http://schemas.openxmlformats.org/officeDocument/2006/relationships/image" Target="../media/image121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1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1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Introduction:</a:t>
          </a:r>
        </a:p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Hate speech often hides behind emotional or indirect language, so this work proposes an emotion-calibrated framework that enhances detection accuracy and empathy in online moderation.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itchFamily="18" charset="0"/>
              <a:cs typeface="Times New Roman" pitchFamily="18" charset="0"/>
            </a:rPr>
            <a:t>Motivation &amp;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Contributions:</a:t>
          </a:r>
        </a:p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This work is motivated by the need for emotionally aware systems that can detect subtle or implicit hate speech. It contributes a two-stage framework that integrates emotion recognition with hate detection, improving both accuracy and interpretability.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itchFamily="18" charset="0"/>
              <a:cs typeface="Times New Roman" pitchFamily="18" charset="0"/>
            </a:rPr>
            <a:t>Proposed System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Model:</a:t>
          </a:r>
        </a:p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The proposed system employs a two-stage framework where emotion recognition from 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GoEmotions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 guides hate detection on the Jigsaw dataset using emotion-calibrated features.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itchFamily="18" charset="0"/>
              <a:cs typeface="Times New Roman" pitchFamily="18" charset="0"/>
            </a:rPr>
            <a:t>Results and 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Discussion:</a:t>
          </a:r>
        </a:p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The emotion-calibrated 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DistilRoBERTa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 model achieved the highest performance with 96.16% accuracy and a macro F1-score of 0.88, effectively detecting both explicit and implicit hate speech.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Conclusion:</a:t>
          </a:r>
        </a:p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The study demonstrates that integrating emotional context into hate detection significantly enhances accuracy, interpretability, and ethical moderation in online platforms.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Reference:</a:t>
          </a:r>
        </a:p>
        <a:p>
          <a:pPr>
            <a:lnSpc>
              <a:spcPct val="100000"/>
            </a:lnSpc>
          </a:pPr>
          <a:r>
            <a:rPr lang="en-US" dirty="0" smtClean="0">
              <a:latin typeface="Times New Roman" pitchFamily="18" charset="0"/>
              <a:cs typeface="Times New Roman" pitchFamily="18" charset="0"/>
            </a:rPr>
            <a:t>Key references include recent works on emotion-aware NLP and hate detection using datasets like 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GoEmotions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 and Jigsaw, supported by studies from </a:t>
          </a:r>
          <a:r>
            <a:rPr lang="en-US" dirty="0" err="1" smtClean="0">
              <a:latin typeface="Times New Roman" pitchFamily="18" charset="0"/>
              <a:cs typeface="Times New Roman" pitchFamily="18" charset="0"/>
            </a:rPr>
            <a:t>Aubaid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 et al. (2024) and Ahmed et al. (2024).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pPr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jigsaw-toxic-comment-classification-challenge" TargetMode="External"/><Relationship Id="rId2" Type="http://schemas.openxmlformats.org/officeDocument/2006/relationships/hyperlink" Target="https://github.com/google-research/goemotions" TargetMode="Externa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C552714D-0746-516F-8E04-8CD9710DDD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xmlns="" id="{FCA41354-436C-9656-0817-56B6CF8CDBC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xmlns="" id="{27863EEE-38BD-6BC9-BA81-2F33679D35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xmlns="" id="{B0A65459-0869-1AF9-758A-0BF65F1282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xmlns="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xmlns="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xmlns="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6DFEB3E-6DE8-7160-DA14-35C64272770B}"/>
              </a:ext>
            </a:extLst>
          </p:cNvPr>
          <p:cNvSpPr txBox="1"/>
          <p:nvPr/>
        </p:nvSpPr>
        <p:spPr>
          <a:xfrm>
            <a:off x="1612491" y="5057953"/>
            <a:ext cx="9173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Title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Rethinking Artificial Empathy with Emotion-Calibrated Hate Detection Models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Paper ID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625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 Name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Khaja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Mohiddin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Basha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Khaja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Mohiddin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Basha,Chinmayee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Guggilam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YagnaPriya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Pichala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Karthika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Yadavalli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V.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Srilakshmi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Madhavi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Latha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Munagapati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Affiliation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JNTUK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091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xmlns="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4" y="-34046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xmlns="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59087361"/>
              </p:ext>
            </p:extLst>
          </p:nvPr>
        </p:nvGraphicFramePr>
        <p:xfrm>
          <a:off x="177800" y="651753"/>
          <a:ext cx="11811000" cy="6041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xmlns="" val="265556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xmlns="" id="{979E27D9-03C7-44E2-9FF8-15D0C8506A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With rising online toxicity, emotion-aware AI can make digital platforms more humane and responsible.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797" y="-163630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124855-2422-AC96-3591-86B2582C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697" y="1747046"/>
            <a:ext cx="5073903" cy="5582592"/>
          </a:xfrm>
        </p:spPr>
        <p:txBody>
          <a:bodyPr anchor="t"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Hate speech online often hides behind emotions like anger, sarcasm, or frustration, making it hard to detect accurately.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Traditional models focus only on text and fail to understand emotional tone or subtle hate.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Our study integrates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emotional intelligence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into hate detection to recognize both direct and indirect hate speech.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is important for building safer, more empathetic, and fair online environments.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EEBF1590-3B36-48EE-A89D-3B6F3CB256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AC8F6C8C-AB5A-4548-942D-E3FD40ACBC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787400" y="5867400"/>
            <a:ext cx="10813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With rising online toxicity, emotion-aware AI can make digital platforms more humane and responsible.</a:t>
            </a: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5233" y="1273175"/>
            <a:ext cx="6635367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143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979E27D9-03C7-44E2-9FF8-15D0C8506A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505" y="-394637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E2D229-4B71-397C-F958-74987BFA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879" y="1147873"/>
            <a:ext cx="10510172" cy="1980337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Motivation: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Existing hate detection models struggle to recognize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indirect, emotional, or sarcastic hate speech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Emotions carry hidden intent that traditional text-only models fail to capture.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is a need for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emotion-aware AI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understands both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what is said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how it is expressed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EBF1590-3B36-48EE-A89D-3B6F3CB256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C8F6C8C-AB5A-4548-942D-E3FD40ACBC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39127" y="3191612"/>
            <a:ext cx="6392658" cy="3180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67891" y="3185959"/>
            <a:ext cx="583290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Core Contributions: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✅ Proposed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two-stage 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integrating emotion recognition with hate detection.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✅ Introduced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emotion-calibrated features 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&amp; labels)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enhance contextual understanding.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✅ Achieved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high accuracy (96.16%)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improved interpretability across datasets.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✅ Demonstrated how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artificial empathy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can make online moderation more human-centered and ethical.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67974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15199817-DE9E-7449-7585-440E56EF63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645" y="-441254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48994A-0005-9834-FF33-01297617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270" y="1147874"/>
            <a:ext cx="9807528" cy="3279747"/>
          </a:xfrm>
        </p:spPr>
        <p:txBody>
          <a:bodyPr anchor="t">
            <a:normAutofit lnSpcReduction="10000"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Early studies relied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machine learning and rule-based models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detecting toxic or hateful text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Aubaid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et al., 2024).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Recent research adopted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deep learning and sentiment analysis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capture semantic and emotional context (Ahmed et al., 2024).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Works such as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Naznin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et al. (2024)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Paul et al. (2024)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explored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sentiment and context-aware hate detection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but lacked emotional depth.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Datasets like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Jigsaw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enabled benchmarking, yet emotional signals were rarely integrated into hate classification.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Few studies addressed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interpretability and ethical transparency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leaving a gap for emotion-driven, explainable models.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6553278-C897-96FC-2F2D-B52D4923A6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FBF056B-1E9B-DCC1-7091-DEC92C0AAA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10619" y="4350618"/>
          <a:ext cx="8127999" cy="14630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709333"/>
                <a:gridCol w="2709333"/>
                <a:gridCol w="2709333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Key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Limitation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ML &amp; Rule-based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Text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Miss emotional tone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Context capture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Low interpretability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Proposed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Emotion + Hate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Explainable &amp; empathetic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7755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9C4FFF6F-CE43-2282-CB86-892BBCBACF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895" y="-821485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34A930-5FD7-9109-8AD9-8DB421492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33" y="733988"/>
            <a:ext cx="8563820" cy="5540352"/>
          </a:xfrm>
        </p:spPr>
        <p:txBody>
          <a:bodyPr anchor="t"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proposed approach introduces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two-stage 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blends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emotion recognition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hate detection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enhance model understanding and interpretability.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Stage 1 – Emotion Classification: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dataset is used to train multiple models such as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DistilBERT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DistilRoBERTa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LightGBM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FastText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 model predicts both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 labels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capturing emotional intensity and category for every text.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Stage 2 – Hate Detection: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emotion features are merged with textual features from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Jigsaw Toxic Comment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dataset.</a:t>
            </a:r>
          </a:p>
          <a:p>
            <a:pPr lvl="1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Models like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LightGBM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Feedforward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Neural Networks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use these calibrated inputs to perform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binary hate classification (Hate / Non-Hate)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framework aims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detect implicit hate speech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leveraging emotional cues that reveal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hidden aggression or sarcasm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provides an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interpretable and emotion-aware system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improving both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accuracy (up to 96.16%)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ethical transparency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online moderation.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04E1D6D-58D9-F76F-1DFA-D23B9824B4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79F5D451-4F81-0AE9-A7FF-245565B6AE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/>
          <a:srcRect r="8491"/>
          <a:stretch>
            <a:fillRect/>
          </a:stretch>
        </p:blipFill>
        <p:spPr bwMode="auto">
          <a:xfrm>
            <a:off x="8989996" y="848537"/>
            <a:ext cx="2993457" cy="545066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7762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6048B6DB-13DF-F440-ADCD-67CCFBB262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808" y="-364475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4D3CE3-EF7F-7526-FB77-DC22209B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142" y="1369255"/>
            <a:ext cx="10336917" cy="4521406"/>
          </a:xfrm>
        </p:spPr>
        <p:txBody>
          <a:bodyPr anchor="t"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experiments were conducted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Pro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Tesla T4 GPU (16GB VRAM)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Python 3.10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Key libraries used: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PyTorch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Transformers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-learn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LightGBM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FastText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dataset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was used for emotion classification, and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Jigsaw Toxic Comments dataset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hate detection.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Split: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80% training and 20% validation, ensuring class balance through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SMOTE oversampling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Optimization: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AdamW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optimizer with learning rate = 2e-5, batch size = 16, and early stopping between 3–5 epochs.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Evaluation Metrics: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Accuracy, Precision, Recall, Macro F1, and Weighted F1 scores were used for performance assessment.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predicted labels were integrated into hate detection to test the effect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 calibration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 performance.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DCAF5A5-5187-ADB4-D0A3-2D0CAAC07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9AF6E61F-D0BB-CA61-E12F-B434D2DBEA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93037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3AFF28DB-3022-9AE0-E6ED-89E177E751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-662859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661387A-D2CF-B83D-46A1-E5112D3F65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E189AA1-8B48-0023-1FF8-DFACB3C97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635000" y="5219700"/>
            <a:ext cx="9105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Models like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BERT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and </a:t>
            </a:r>
            <a:r>
              <a:rPr lang="en-US" sz="2000" b="1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DistilBERT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also performed well, while </a:t>
            </a:r>
            <a:r>
              <a:rPr lang="en-US" sz="2000" b="1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LightGBM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and </a:t>
            </a:r>
            <a:r>
              <a:rPr lang="en-US" sz="2000" b="1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FastText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offered efficient, lightweight alternatives.</a:t>
            </a:r>
          </a:p>
          <a:p>
            <a:endParaRPr lang="en-US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51467" y="1257300"/>
            <a:ext cx="6272446" cy="374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287FD8-CEC3-D9E8-58E8-91C55962A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82" y="1051354"/>
            <a:ext cx="5257318" cy="3603196"/>
          </a:xfrm>
        </p:spPr>
        <p:txBody>
          <a:bodyPr anchor="t"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emotion-calibrated </a:t>
            </a:r>
            <a:r>
              <a:rPr lang="en-US" sz="2000" b="1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DistilRoBERTa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model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achieved the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best performance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, with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Accuracy: 96.16%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and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Macro F1-Score: 0.88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Emotion features significantly improved detection of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implicit or sarcastic hate speech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integration of emotional cues enhanced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model interpretability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, revealing links between hateful content and emotions such as </a:t>
            </a:r>
            <a:r>
              <a:rPr lang="en-US" sz="2000" i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anger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, </a:t>
            </a:r>
            <a:r>
              <a:rPr lang="en-US" sz="2000" i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disgust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, and </a:t>
            </a:r>
            <a:r>
              <a:rPr lang="en-US" sz="2000" i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contempt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Statistical tests (paired t-test p &lt; 0.01) confirmed the </a:t>
            </a:r>
            <a:r>
              <a:rPr lang="en-US" sz="20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significance of emotion calibration</a:t>
            </a:r>
            <a:r>
              <a:rPr lang="en-US" sz="20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over text-only baselines.</a:t>
            </a:r>
            <a:endParaRPr lang="en-US" sz="20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199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5E44DD87-B842-6A2C-4C19-828CE13038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632" y="-555376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A83061-9DB8-9679-86B0-883EB331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697" y="1224608"/>
            <a:ext cx="6255003" cy="4947591"/>
          </a:xfrm>
          <a:ln>
            <a:solidFill>
              <a:schemeClr val="accent1"/>
            </a:solidFill>
          </a:ln>
        </p:spPr>
        <p:txBody>
          <a:bodyPr anchor="t">
            <a:normAutofit/>
          </a:bodyPr>
          <a:lstStyle/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proposed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emotion-calibrated hate detection 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effectively integrates emotion recognition with text-based features for more accurate and empathetic moderation.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DistilRoBERTa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-based model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achieved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96.16% accuracy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Macro F1-score of 0.88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outperforming baseline models.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Emotional features enhanced both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model interpretability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the ability to detect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implicit or subtle hate speech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approach moves toward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responsible and explainable AI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online content moderation.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1BC3E1B-2D96-9495-0F03-77621D506F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B6056C1-5074-4528-7D7D-4A4071A543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6908800" y="1193801"/>
            <a:ext cx="4787900" cy="48320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Future Work: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Extend the framework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multilingual and cross-cultural contexts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handle diverse emotional expressions.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Incorporate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multimodal features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emojis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tone, or facial cues) to enrich emotional context.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Implement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human-in-the-loop review system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fairness, bias reduction, and ethical decision-making.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Explore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deployment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social media moderation systems.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8776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C7CE12AA-1C03-9E46-DB28-08CBE0A911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32" y="-568076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3E910E-7C5B-2153-7E05-D1B777D40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096" y="1288109"/>
            <a:ext cx="10534903" cy="3454358"/>
          </a:xfrm>
        </p:spPr>
        <p:txBody>
          <a:bodyPr anchor="t">
            <a:noAutofit/>
          </a:bodyPr>
          <a:lstStyle/>
          <a:p>
            <a:pPr algn="just"/>
            <a:r>
              <a:rPr lang="en-US" sz="2000" b="1" dirty="0" err="1" smtClean="0"/>
              <a:t>Aubaid</a:t>
            </a:r>
            <a:r>
              <a:rPr lang="en-US" sz="2000" b="1" dirty="0" smtClean="0"/>
              <a:t>, A. M., </a:t>
            </a:r>
            <a:r>
              <a:rPr lang="en-US" sz="2000" b="1" dirty="0" err="1" smtClean="0"/>
              <a:t>Mishra</a:t>
            </a:r>
            <a:r>
              <a:rPr lang="en-US" sz="2000" b="1" dirty="0" smtClean="0"/>
              <a:t>, A., &amp; </a:t>
            </a:r>
            <a:r>
              <a:rPr lang="en-US" sz="2000" b="1" dirty="0" err="1" smtClean="0"/>
              <a:t>Mishra</a:t>
            </a:r>
            <a:r>
              <a:rPr lang="en-US" sz="2000" b="1" dirty="0" smtClean="0"/>
              <a:t>, A. (2024).</a:t>
            </a:r>
            <a:r>
              <a:rPr lang="en-US" sz="2000" dirty="0" smtClean="0"/>
              <a:t> </a:t>
            </a:r>
            <a:r>
              <a:rPr lang="en-US" sz="2000" i="1" dirty="0" smtClean="0"/>
              <a:t>Machine learning and rule-based embedding techniques for classifying text documents.</a:t>
            </a:r>
            <a:r>
              <a:rPr lang="en-US" sz="2000" dirty="0" smtClean="0"/>
              <a:t> </a:t>
            </a:r>
            <a:r>
              <a:rPr lang="en-US" sz="2000" i="1" dirty="0" smtClean="0"/>
              <a:t>Int. J. of System Assurance Engineering and Management.</a:t>
            </a:r>
            <a:endParaRPr lang="en-US" sz="2000" dirty="0" smtClean="0"/>
          </a:p>
          <a:p>
            <a:pPr algn="just"/>
            <a:r>
              <a:rPr lang="en-US" sz="2000" b="1" dirty="0" smtClean="0"/>
              <a:t>Ahmed, N., et al. (2024).</a:t>
            </a:r>
            <a:r>
              <a:rPr lang="en-US" sz="2000" dirty="0" smtClean="0"/>
              <a:t> </a:t>
            </a:r>
            <a:r>
              <a:rPr lang="en-US" sz="2000" i="1" dirty="0" smtClean="0"/>
              <a:t>Deep learning-based NLP in human–agent interaction: Applications and challenges.</a:t>
            </a:r>
            <a:r>
              <a:rPr lang="en-US" sz="2000" dirty="0" smtClean="0"/>
              <a:t> </a:t>
            </a:r>
            <a:r>
              <a:rPr lang="en-US" sz="2000" i="1" dirty="0" smtClean="0"/>
              <a:t>Natural Language Processing Journal.</a:t>
            </a:r>
            <a:endParaRPr lang="en-US" sz="2000" dirty="0" smtClean="0"/>
          </a:p>
          <a:p>
            <a:pPr algn="just"/>
            <a:r>
              <a:rPr lang="en-US" sz="2000" b="1" dirty="0" err="1" smtClean="0"/>
              <a:t>Naznin</a:t>
            </a:r>
            <a:r>
              <a:rPr lang="en-US" sz="2000" b="1" dirty="0" smtClean="0"/>
              <a:t>, F., </a:t>
            </a:r>
            <a:r>
              <a:rPr lang="en-US" sz="2000" b="1" dirty="0" err="1" smtClean="0"/>
              <a:t>Rahman</a:t>
            </a:r>
            <a:r>
              <a:rPr lang="en-US" sz="2000" b="1" dirty="0" smtClean="0"/>
              <a:t>, M. T., &amp; </a:t>
            </a:r>
            <a:r>
              <a:rPr lang="en-US" sz="2000" b="1" dirty="0" err="1" smtClean="0"/>
              <a:t>Alve</a:t>
            </a:r>
            <a:r>
              <a:rPr lang="en-US" sz="2000" b="1" dirty="0" smtClean="0"/>
              <a:t>, S. R. (2024).</a:t>
            </a:r>
            <a:r>
              <a:rPr lang="en-US" sz="2000" dirty="0" smtClean="0"/>
              <a:t> </a:t>
            </a:r>
            <a:r>
              <a:rPr lang="en-US" sz="2000" i="1" dirty="0" smtClean="0"/>
              <a:t>Hierarchical Sentiment Analysis Framework for Hate Speech Detection.</a:t>
            </a:r>
            <a:r>
              <a:rPr lang="en-US" sz="2000" dirty="0" smtClean="0"/>
              <a:t> </a:t>
            </a:r>
            <a:r>
              <a:rPr lang="en-US" sz="2000" i="1" dirty="0" smtClean="0"/>
              <a:t>arXiv:2411.05819.</a:t>
            </a:r>
            <a:endParaRPr lang="en-US" sz="2000" dirty="0" smtClean="0"/>
          </a:p>
          <a:p>
            <a:pPr algn="just"/>
            <a:r>
              <a:rPr lang="en-US" sz="2000" b="1" dirty="0" smtClean="0"/>
              <a:t>Paul, S., et al. (2024).</a:t>
            </a:r>
            <a:r>
              <a:rPr lang="en-US" sz="2000" dirty="0" smtClean="0"/>
              <a:t> </a:t>
            </a:r>
            <a:r>
              <a:rPr lang="en-US" sz="2000" i="1" dirty="0" smtClean="0"/>
              <a:t>Context-Aware Hate Speech Detection: A Comparative Study.</a:t>
            </a:r>
            <a:r>
              <a:rPr lang="en-US" sz="2000" dirty="0" smtClean="0"/>
              <a:t> </a:t>
            </a:r>
            <a:r>
              <a:rPr lang="en-US" sz="2000" i="1" dirty="0" smtClean="0"/>
              <a:t>IJCNIS, 16(3), 6703–6715.</a:t>
            </a:r>
            <a:endParaRPr lang="en-US" sz="2000" dirty="0" smtClean="0"/>
          </a:p>
          <a:p>
            <a:pPr algn="just"/>
            <a:r>
              <a:rPr lang="en-US" sz="2000" b="1" dirty="0" smtClean="0"/>
              <a:t>Mathew, A., </a:t>
            </a:r>
            <a:r>
              <a:rPr lang="en-US" sz="2000" b="1" dirty="0" err="1" smtClean="0"/>
              <a:t>Saha</a:t>
            </a:r>
            <a:r>
              <a:rPr lang="en-US" sz="2000" b="1" dirty="0" smtClean="0"/>
              <a:t>, P., &amp; </a:t>
            </a:r>
            <a:r>
              <a:rPr lang="en-US" sz="2000" b="1" dirty="0" err="1" smtClean="0"/>
              <a:t>Mukherjee</a:t>
            </a:r>
            <a:r>
              <a:rPr lang="en-US" sz="2000" b="1" dirty="0" smtClean="0"/>
              <a:t>, A. (2021).</a:t>
            </a:r>
            <a:r>
              <a:rPr lang="en-US" sz="2000" dirty="0" smtClean="0"/>
              <a:t> </a:t>
            </a:r>
            <a:r>
              <a:rPr lang="en-US" sz="2000" i="1" dirty="0" err="1" smtClean="0"/>
              <a:t>HateXplain</a:t>
            </a:r>
            <a:r>
              <a:rPr lang="en-US" sz="2000" i="1" dirty="0" smtClean="0"/>
              <a:t>: A Benchmark Dataset for Explainable Hate Speech Detection.</a:t>
            </a:r>
            <a:r>
              <a:rPr lang="en-US" sz="2000" dirty="0" smtClean="0"/>
              <a:t> </a:t>
            </a:r>
            <a:r>
              <a:rPr lang="en-US" sz="2000" i="1" dirty="0" smtClean="0"/>
              <a:t>Proc. AAAI.</a:t>
            </a:r>
            <a:endParaRPr lang="en-US" sz="2000" dirty="0" smtClean="0"/>
          </a:p>
          <a:p>
            <a:pPr algn="just"/>
            <a:r>
              <a:rPr lang="en-US" sz="2000" b="1" dirty="0" smtClean="0"/>
              <a:t>Google Research.</a:t>
            </a:r>
            <a:r>
              <a:rPr lang="en-US" sz="2000" dirty="0" smtClean="0"/>
              <a:t> </a:t>
            </a:r>
            <a:r>
              <a:rPr lang="en-US" sz="2000" i="1" dirty="0" err="1" smtClean="0"/>
              <a:t>GoEmotions</a:t>
            </a:r>
            <a:r>
              <a:rPr lang="en-US" sz="2000" i="1" dirty="0" smtClean="0"/>
              <a:t> Dataset.</a:t>
            </a:r>
            <a:r>
              <a:rPr lang="en-US" sz="2000" dirty="0" smtClean="0"/>
              <a:t> [Online] Available: </a:t>
            </a:r>
            <a:r>
              <a:rPr lang="en-US" sz="2000" dirty="0" smtClean="0">
                <a:hlinkClick r:id="rId2"/>
              </a:rPr>
              <a:t>https://github.com/google-research/goemotions</a:t>
            </a:r>
            <a:endParaRPr lang="en-US" sz="2000" dirty="0" smtClean="0"/>
          </a:p>
          <a:p>
            <a:pPr algn="just"/>
            <a:r>
              <a:rPr lang="en-US" sz="2000" b="1" dirty="0" err="1" smtClean="0"/>
              <a:t>Kaggle</a:t>
            </a:r>
            <a:r>
              <a:rPr lang="en-US" sz="2000" b="1" dirty="0" smtClean="0"/>
              <a:t>.</a:t>
            </a:r>
            <a:r>
              <a:rPr lang="en-US" sz="2000" dirty="0" smtClean="0"/>
              <a:t> </a:t>
            </a:r>
            <a:r>
              <a:rPr lang="en-US" sz="2000" i="1" dirty="0" smtClean="0"/>
              <a:t>Jigsaw Toxic Comment Classification Challenge.</a:t>
            </a:r>
            <a:r>
              <a:rPr lang="en-US" sz="2000" dirty="0" smtClean="0"/>
              <a:t> [Online] Available: </a:t>
            </a:r>
            <a:r>
              <a:rPr lang="en-US" sz="2000" dirty="0" smtClean="0">
                <a:hlinkClick r:id="rId3"/>
              </a:rPr>
              <a:t>https://www.kaggle.com/competitions/jigsaw-toxic-comment-classification-challenge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945E2101-2555-E33B-A702-7B6D83A73C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8356BB5-8463-0225-206F-ABCB431183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02449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5A8BF324-D5F0-E912-1399-B52BB762EB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32" y="-656976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D736A8-DB5A-3343-84E7-6DDC5CE4D35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36397" y="2197100"/>
            <a:ext cx="298703" cy="221309"/>
          </a:xfrm>
        </p:spPr>
        <p:txBody>
          <a:bodyPr anchor="t">
            <a:normAutofit fontScale="55000" lnSpcReduction="20000"/>
          </a:bodyPr>
          <a:lstStyle/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9A520D80-9ED4-8584-7740-FE84BCADA4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E46DF2BD-6B17-41FF-EEA0-EC97FF6BC1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xmlns="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6098" y="1028700"/>
          <a:ext cx="11315701" cy="52798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03196"/>
                <a:gridCol w="4638654"/>
                <a:gridCol w="4873851"/>
              </a:tblGrid>
              <a:tr h="368678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Reviewer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Comments / Suggestions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Action / Revision Made</a:t>
                      </a:r>
                    </a:p>
                  </a:txBody>
                  <a:tcPr marL="55863" marR="55863" marT="27931" marB="27931" anchor="ctr"/>
                </a:tc>
              </a:tr>
              <a:tr h="2106731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Reviewer 1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Clearly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position what is new (e.g., lightweight pipeline, interpretability, emotion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logits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).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Ensure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accuracy/F1 consistency across all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results.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Add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cross-domain generalization (train on Jigsaw, test on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Hate X plain).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Improve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figure captions and visual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consistency.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Fix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naming inconsistencies.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Novelty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clearly defined in Abstract &amp;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Introduction.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Metrics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standardized across tables &amp;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discussion.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Added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Cross-Domain Generalization using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Hate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X plain dataset.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Figures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replaced with high-resolution versions and unified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captions.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English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grammar refined.</a:t>
                      </a:r>
                    </a:p>
                  </a:txBody>
                  <a:tcPr marL="55863" marR="55863" marT="27931" marB="27931" anchor="ctr"/>
                </a:tc>
              </a:tr>
              <a:tr h="1948726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Reviewer 2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Abstract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too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lengthy.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Add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references [13–20] to support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work.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Include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statistical significance tests for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improvements.</a:t>
                      </a:r>
                      <a:endParaRPr lang="en-US" sz="180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Add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ethical implications with real-world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strategies.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Improve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grammar and figure quality.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Abstract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rewritten concisely and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humanized.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Added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latest 2024–2025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references.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Introduced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Statistical Significance Analysis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section.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Added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Ethical Implications section (fairness, transparency, bias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).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Figures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enhanced for clarity.</a:t>
                      </a:r>
                    </a:p>
                  </a:txBody>
                  <a:tcPr marL="55863" marR="55863" marT="27931" marB="27931" anchor="ctr"/>
                </a:tc>
              </a:tr>
              <a:tr h="684688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Reviewer 3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is well-written and technically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sound.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No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modifications suggested.</a:t>
                      </a:r>
                    </a:p>
                  </a:txBody>
                  <a:tcPr marL="55863" marR="55863" marT="27931" marB="27931" anchor="ctr"/>
                </a:tc>
                <a:tc>
                  <a:txBody>
                    <a:bodyPr/>
                    <a:lstStyle/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Acknowledged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positive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feedback.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Maintained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structure and refined readability.</a:t>
                      </a:r>
                    </a:p>
                  </a:txBody>
                  <a:tcPr marL="55863" marR="55863" marT="27931" marB="2793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925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1538</Words>
  <Application>Microsoft Office PowerPoint</Application>
  <PresentationFormat>Custom</PresentationFormat>
  <Paragraphs>132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IEEE iSSSC</dc:title>
  <dc:creator>Prangya Priyadarshini</dc:creator>
  <cp:lastModifiedBy>Lenovo</cp:lastModifiedBy>
  <cp:revision>18</cp:revision>
  <dcterms:created xsi:type="dcterms:W3CDTF">2025-10-21T04:39:10Z</dcterms:created>
  <dcterms:modified xsi:type="dcterms:W3CDTF">2025-11-05T08:12:50Z</dcterms:modified>
</cp:coreProperties>
</file>