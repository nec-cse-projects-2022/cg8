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9" r:id="rId13"/>
    <p:sldId id="280" r:id="rId14"/>
    <p:sldId id="276" r:id="rId15"/>
    <p:sldId id="269" r:id="rId16"/>
    <p:sldId id="282" r:id="rId17"/>
    <p:sldId id="270" r:id="rId18"/>
    <p:sldId id="281" r:id="rId19"/>
    <p:sldId id="271" r:id="rId20"/>
    <p:sldId id="274" r:id="rId21"/>
    <p:sldId id="275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094F9A-EF63-40BA-B1FA-DBAAF30639AE}" v="6" dt="2024-04-01T16:36:11.5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644" y="-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9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E2CD1-C182-4855-A9EB-EBB7E629C88F}" type="datetimeFigureOut">
              <a:rPr lang="en-IN" smtClean="0"/>
              <a:pPr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234BE-21DE-4D07-A0A4-66BEF0784C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5348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234BE-21DE-4D07-A0A4-66BEF0784CC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3512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6699" y="529843"/>
            <a:ext cx="657860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448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29987" y="6451049"/>
            <a:ext cx="1242059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2401" y="6451049"/>
            <a:ext cx="2286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2600" y="636670"/>
            <a:ext cx="8839200" cy="114518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800" spc="-10" dirty="0"/>
              <a:t>Department</a:t>
            </a:r>
            <a:r>
              <a:rPr sz="1800" spc="65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spc="-20" dirty="0"/>
              <a:t>Computer</a:t>
            </a:r>
            <a:r>
              <a:rPr sz="1800" spc="90" dirty="0"/>
              <a:t> </a:t>
            </a:r>
            <a:r>
              <a:rPr sz="1800" dirty="0"/>
              <a:t>Science</a:t>
            </a:r>
            <a:r>
              <a:rPr sz="1800" spc="-60" dirty="0"/>
              <a:t> </a:t>
            </a:r>
            <a:r>
              <a:rPr sz="1800" spc="-10" dirty="0"/>
              <a:t>and</a:t>
            </a:r>
            <a:r>
              <a:rPr sz="1800" spc="40" dirty="0"/>
              <a:t> </a:t>
            </a:r>
            <a:r>
              <a:rPr sz="1800" dirty="0"/>
              <a:t>Engineering</a:t>
            </a: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Rethinking Artificial Empathy with Emotion-Calibrated Hate Detection Models</a:t>
            </a:r>
            <a:endParaRPr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034" y="1871136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5" dirty="0">
                <a:latin typeface="Times New Roman"/>
                <a:cs typeface="Times New Roman"/>
              </a:rPr>
              <a:t>PRESENTED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5636" y="2262101"/>
            <a:ext cx="4560728" cy="10356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">
              <a:lnSpc>
                <a:spcPct val="137300"/>
              </a:lnSpc>
              <a:spcBef>
                <a:spcPts val="95"/>
              </a:spcBef>
            </a:pPr>
            <a:r>
              <a:rPr lang="en-IN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16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Chinmayee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(</a:t>
            </a:r>
            <a:r>
              <a:rPr lang="en-IN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22471A05F7)</a:t>
            </a: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8890">
              <a:lnSpc>
                <a:spcPct val="137300"/>
              </a:lnSpc>
              <a:spcBef>
                <a:spcPts val="95"/>
              </a:spcBef>
            </a:pPr>
            <a:r>
              <a:rPr lang="en-US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sz="16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Yagna</a:t>
            </a:r>
            <a:r>
              <a:rPr lang="en-US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</a:t>
            </a:r>
            <a:r>
              <a:rPr lang="en-US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(22471A05K8)</a:t>
            </a:r>
            <a:endParaRPr lang="en-IN" sz="16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">
              <a:lnSpc>
                <a:spcPct val="100000"/>
              </a:lnSpc>
              <a:spcBef>
                <a:spcPts val="690"/>
              </a:spcBef>
            </a:pPr>
            <a:r>
              <a:rPr lang="en-IN" sz="16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Y. </a:t>
            </a:r>
            <a:r>
              <a:rPr lang="en-IN" sz="1600" spc="-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Karthika</a:t>
            </a:r>
            <a:r>
              <a:rPr lang="en-IN" sz="16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</a:t>
            </a:r>
            <a:r>
              <a:rPr lang="en-IN" sz="16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22471A05K7)</a:t>
            </a:r>
            <a:endParaRPr lang="en-IN" sz="16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6201" y="4038600"/>
            <a:ext cx="4424426" cy="228754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022350" marR="1009650" algn="ctr">
              <a:lnSpc>
                <a:spcPct val="122000"/>
              </a:lnSpc>
              <a:spcBef>
                <a:spcPts val="160"/>
              </a:spcBef>
            </a:pPr>
            <a:r>
              <a:rPr sz="1800" spc="-15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5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600"/>
                </a:solidFill>
                <a:latin typeface="Times New Roman"/>
                <a:cs typeface="Times New Roman"/>
              </a:rPr>
              <a:t>G</a:t>
            </a:r>
            <a:r>
              <a:rPr lang="en-IN" sz="1800" spc="-5" dirty="0" err="1">
                <a:solidFill>
                  <a:srgbClr val="006600"/>
                </a:solidFill>
                <a:latin typeface="Times New Roman"/>
                <a:cs typeface="Times New Roman"/>
              </a:rPr>
              <a:t>uidance</a:t>
            </a:r>
            <a:r>
              <a:rPr lang="en-IN" sz="1800" spc="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lang="en-IN" sz="1800" dirty="0">
                <a:solidFill>
                  <a:srgbClr val="006600"/>
                </a:solidFill>
                <a:latin typeface="Times New Roman"/>
                <a:cs typeface="Times New Roman"/>
              </a:rPr>
              <a:t>of</a:t>
            </a:r>
            <a:r>
              <a:rPr lang="en-IN" dirty="0">
                <a:solidFill>
                  <a:srgbClr val="006600"/>
                </a:solidFill>
                <a:latin typeface="Times New Roman"/>
                <a:cs typeface="Times New Roman"/>
              </a:rPr>
              <a:t>  </a:t>
            </a:r>
          </a:p>
          <a:p>
            <a:pPr marR="292735" algn="ctr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</a:t>
            </a:r>
            <a:r>
              <a:rPr lang="en-US" sz="1400" b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Shaik</a:t>
            </a: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Khaja</a:t>
            </a: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Mohiddin</a:t>
            </a: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Basha</a:t>
            </a: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b="1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M.Tech</a:t>
            </a:r>
            <a:r>
              <a:rPr lang="en-US" sz="14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.,</a:t>
            </a:r>
          </a:p>
          <a:p>
            <a:pPr marR="292735" algn="ctr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IN" sz="1550" spc="-5" dirty="0">
                <a:latin typeface="Times New Roman"/>
                <a:cs typeface="Times New Roman"/>
              </a:rPr>
              <a:t>Asst. Professor</a:t>
            </a:r>
            <a:r>
              <a:rPr lang="en-IN" sz="1550" b="1" dirty="0">
                <a:latin typeface="Times New Roman"/>
                <a:cs typeface="Times New Roman"/>
              </a:rPr>
              <a:t> </a:t>
            </a:r>
            <a:endParaRPr lang="en-IN"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2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5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26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73700"/>
              </a:lnSpc>
              <a:spcBef>
                <a:spcPts val="70"/>
              </a:spcBef>
            </a:pPr>
            <a:r>
              <a:rPr sz="1550" spc="-5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888888"/>
                </a:solidFill>
                <a:latin typeface="Times New Roman"/>
                <a:cs typeface="Times New Roman"/>
              </a:rPr>
              <a:t>College </a:t>
            </a:r>
            <a:r>
              <a:rPr sz="1550" spc="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spc="-37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2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</a:t>
            </a:r>
            <a:r>
              <a:rPr spc="5" dirty="0"/>
              <a:t>-</a:t>
            </a:r>
            <a:r>
              <a:rPr lang="en-IN" spc="5" dirty="0"/>
              <a:t>12</a:t>
            </a:r>
            <a:r>
              <a:rPr spc="5" dirty="0"/>
              <a:t>-202</a:t>
            </a:r>
            <a:r>
              <a:rPr lang="en-IN" spc="5" dirty="0"/>
              <a:t>5</a:t>
            </a:r>
            <a:endParaRPr spc="5" dirty="0"/>
          </a:p>
        </p:txBody>
      </p:sp>
      <p:sp>
        <p:nvSpPr>
          <p:cNvPr id="12" name="object 12"/>
          <p:cNvSpPr txBox="1"/>
          <p:nvPr/>
        </p:nvSpPr>
        <p:spPr>
          <a:xfrm>
            <a:off x="4350003" y="6451049"/>
            <a:ext cx="83439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.2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0658" y="6451049"/>
            <a:ext cx="107842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9080" y="6451049"/>
            <a:ext cx="124206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35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29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2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4001" y="64510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9096" y="529843"/>
            <a:ext cx="262128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29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173924"/>
            <a:ext cx="5559426" cy="4530727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Abstract</a:t>
            </a: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Introduction</a:t>
            </a:r>
          </a:p>
          <a:p>
            <a:pPr marL="527685" indent="-514984">
              <a:spcBef>
                <a:spcPts val="320"/>
              </a:spcBef>
              <a:buFontTx/>
              <a:buAutoNum type="arabicPeriod"/>
              <a:tabLst>
                <a:tab pos="527050" algn="l"/>
                <a:tab pos="527685" algn="l"/>
              </a:tabLst>
            </a:pPr>
            <a:r>
              <a:rPr lang="en-IN" sz="1800" dirty="0">
                <a:latin typeface="Times New Roman"/>
                <a:cs typeface="Times New Roman"/>
              </a:rPr>
              <a:t>Problem</a:t>
            </a:r>
            <a:r>
              <a:rPr lang="en-IN" sz="1800" spc="-75" dirty="0">
                <a:latin typeface="Times New Roman"/>
                <a:cs typeface="Times New Roman"/>
              </a:rPr>
              <a:t> </a:t>
            </a:r>
            <a:r>
              <a:rPr lang="en-IN"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5" dirty="0">
                <a:latin typeface="Times New Roman"/>
                <a:cs typeface="Times New Roman"/>
              </a:rPr>
              <a:t>Literature</a:t>
            </a:r>
            <a:r>
              <a:rPr lang="en-IN" sz="1800" spc="-95" dirty="0">
                <a:latin typeface="Times New Roman"/>
                <a:cs typeface="Times New Roman"/>
              </a:rPr>
              <a:t> </a:t>
            </a:r>
            <a:r>
              <a:rPr lang="en-IN" sz="1800" spc="-15" dirty="0">
                <a:latin typeface="Times New Roman"/>
                <a:cs typeface="Times New Roman"/>
              </a:rPr>
              <a:t>Survey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5" dirty="0">
                <a:latin typeface="Times New Roman"/>
                <a:cs typeface="Times New Roman"/>
              </a:rPr>
              <a:t>Research</a:t>
            </a:r>
            <a:r>
              <a:rPr lang="en-IN" sz="1800" spc="-110" dirty="0">
                <a:latin typeface="Times New Roman"/>
                <a:cs typeface="Times New Roman"/>
              </a:rPr>
              <a:t> </a:t>
            </a:r>
            <a:r>
              <a:rPr lang="en-IN" sz="1800" spc="-5" dirty="0">
                <a:latin typeface="Times New Roman"/>
                <a:cs typeface="Times New Roman"/>
              </a:rPr>
              <a:t>Gaps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5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spcBef>
                <a:spcPts val="320"/>
              </a:spcBef>
              <a:buFontTx/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-15" dirty="0">
                <a:latin typeface="Times New Roman"/>
                <a:cs typeface="Times New Roman"/>
              </a:rPr>
              <a:t>Methodology</a:t>
            </a:r>
            <a:r>
              <a:rPr lang="en-IN" sz="1800" spc="-20" dirty="0">
                <a:latin typeface="Times New Roman"/>
                <a:cs typeface="Times New Roman"/>
              </a:rPr>
              <a:t>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-10" dirty="0">
                <a:latin typeface="Times New Roman"/>
                <a:cs typeface="Times New Roman"/>
              </a:rPr>
              <a:t>Block</a:t>
            </a:r>
            <a:r>
              <a:rPr lang="en-IN" sz="1800" spc="-5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Diagram</a:t>
            </a:r>
            <a:r>
              <a:rPr lang="en-IN" sz="1800" spc="90" dirty="0">
                <a:latin typeface="Times New Roman"/>
                <a:cs typeface="Times New Roman"/>
              </a:rPr>
              <a:t> </a:t>
            </a:r>
            <a:r>
              <a:rPr lang="en-IN" sz="1800" dirty="0">
                <a:latin typeface="Times New Roman"/>
                <a:cs typeface="Times New Roman"/>
              </a:rPr>
              <a:t>/</a:t>
            </a:r>
            <a:r>
              <a:rPr lang="en-IN" sz="1800" spc="20" dirty="0">
                <a:latin typeface="Times New Roman"/>
                <a:cs typeface="Times New Roman"/>
              </a:rPr>
              <a:t> </a:t>
            </a:r>
            <a:r>
              <a:rPr lang="en-IN" sz="1800" spc="-25" dirty="0">
                <a:latin typeface="Times New Roman"/>
                <a:cs typeface="Times New Roman"/>
              </a:rPr>
              <a:t>Flow</a:t>
            </a:r>
            <a:r>
              <a:rPr lang="en-IN" sz="1800" spc="40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Diagram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15" dirty="0">
                <a:latin typeface="Times New Roman"/>
                <a:cs typeface="Times New Roman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-55" dirty="0">
                <a:latin typeface="Times New Roman"/>
                <a:cs typeface="Times New Roman"/>
              </a:rPr>
              <a:t>l</a:t>
            </a:r>
            <a:r>
              <a:rPr sz="1800" spc="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nd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spc="-5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s</a:t>
            </a: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5" dirty="0">
                <a:latin typeface="Times New Roman"/>
                <a:cs typeface="Times New Roman"/>
              </a:rPr>
              <a:t>Conclusion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Future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30" dirty="0">
                <a:latin typeface="Times New Roman"/>
                <a:cs typeface="Times New Roman"/>
              </a:rPr>
              <a:t>Q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20" dirty="0">
                <a:latin typeface="Times New Roman"/>
                <a:cs typeface="Times New Roman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spc="20" dirty="0">
                <a:latin typeface="Times New Roman"/>
                <a:cs typeface="Times New Roman"/>
              </a:rPr>
              <a:t>t</a:t>
            </a:r>
            <a:r>
              <a:rPr sz="1800" spc="-5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nd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30" dirty="0">
                <a:latin typeface="Times New Roman"/>
                <a:cs typeface="Times New Roman"/>
              </a:rPr>
              <a:t>sw</a:t>
            </a:r>
            <a:r>
              <a:rPr sz="1800" spc="2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rs</a:t>
            </a: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0590" y="529843"/>
            <a:ext cx="309689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A</a:t>
            </a:r>
            <a:r>
              <a:rPr spc="60" dirty="0"/>
              <a:t>B</a:t>
            </a:r>
            <a:r>
              <a:rPr spc="20" dirty="0"/>
              <a:t>S</a:t>
            </a:r>
            <a:r>
              <a:rPr spc="-10" dirty="0"/>
              <a:t>T</a:t>
            </a:r>
            <a:r>
              <a:rPr spc="45" dirty="0"/>
              <a:t>RA</a:t>
            </a:r>
            <a:r>
              <a:rPr spc="-25" dirty="0"/>
              <a:t>C</a:t>
            </a:r>
            <a:r>
              <a:rPr spc="20" dirty="0"/>
              <a:t>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8314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450022"/>
            <a:ext cx="10320655" cy="4152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200"/>
              </a:lnSpc>
              <a:spcBef>
                <a:spcPts val="430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21D70BB-5239-88AF-01A6-8B000EAE3E37}"/>
              </a:ext>
            </a:extLst>
          </p:cNvPr>
          <p:cNvSpPr txBox="1"/>
          <p:nvPr/>
        </p:nvSpPr>
        <p:spPr>
          <a:xfrm>
            <a:off x="990600" y="1371600"/>
            <a:ext cx="10095230" cy="382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developed a two-stage hate detection system that uses emotional signals (emotion labels +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to improve accuracy and context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understanding.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combining emotion features from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text features from the Jigsaw dataset, the model detects subtle and indirect hate more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effectively.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proposed approach achieved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96.16% accuracy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proving that emotion-calibrated models outperform traditional text-only hate detectors.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304800"/>
            <a:ext cx="452691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914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5240" y="6451049"/>
            <a:ext cx="101416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060120" y="643247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914400"/>
            <a:ext cx="10512425" cy="557364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speech on online platforms has become more subtle, emotional, and context-dependent, making it difficult for traditional models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detect.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existing systems rely only on text features and fail to understand the emotional tone behind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comments.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address this, our project introduces an emotion-calibrated approach that combines emotion recognition with hate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detection.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integrating emotion signals with text features, the system becomes more accurate and better at identifying indirect or hidden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hate.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leads to improved moderation, safer platforms, and more interpretable AI decisions.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445" y="529843"/>
            <a:ext cx="644207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PROBLEM</a:t>
            </a:r>
            <a:r>
              <a:rPr spc="-240" dirty="0"/>
              <a:t> </a:t>
            </a:r>
            <a:r>
              <a:rPr spc="-55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076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794881" y="6451049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5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F3F7C4C-E9CF-C66E-B7DA-DBCCAAD90C3A}"/>
              </a:ext>
            </a:extLst>
          </p:cNvPr>
          <p:cNvSpPr txBox="1"/>
          <p:nvPr/>
        </p:nvSpPr>
        <p:spPr>
          <a:xfrm>
            <a:off x="1219200" y="1828800"/>
            <a:ext cx="990885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Traditional hate detection models struggle to identify subtle, indirect, or emotionally-driven hate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speech.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rely only on text features and fail to capture the emotional tone behind user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a need for a more accurate and emotion-aware system to detect hidden or context-based hate effectively.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0593" y="270745"/>
            <a:ext cx="55187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30" dirty="0"/>
              <a:t>LITERATURE</a:t>
            </a:r>
            <a:r>
              <a:rPr sz="3950" spc="250" dirty="0"/>
              <a:t> </a:t>
            </a:r>
            <a:r>
              <a:rPr sz="3950" spc="-3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144321" y="6468567"/>
            <a:ext cx="103765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076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6</a:t>
            </a:fld>
            <a:endParaRPr dirty="0"/>
          </a:p>
        </p:txBody>
      </p:sp>
      <p:graphicFrame>
        <p:nvGraphicFramePr>
          <p:cNvPr id="9" name="object 3"/>
          <p:cNvGraphicFramePr>
            <a:graphicFrameLocks noGrp="1"/>
          </p:cNvGraphicFramePr>
          <p:nvPr/>
        </p:nvGraphicFramePr>
        <p:xfrm>
          <a:off x="228599" y="914400"/>
          <a:ext cx="11658600" cy="541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300"/>
                <a:gridCol w="2093814"/>
                <a:gridCol w="1744959"/>
                <a:gridCol w="1800366"/>
                <a:gridCol w="1913916"/>
                <a:gridCol w="1784633"/>
                <a:gridCol w="1665612"/>
              </a:tblGrid>
              <a:tr h="608948">
                <a:tc>
                  <a:txBody>
                    <a:bodyPr/>
                    <a:lstStyle/>
                    <a:p>
                      <a:pPr marL="18288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4127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4127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4127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 algn="ctr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Journal</a:t>
                      </a:r>
                      <a:r>
                        <a:rPr sz="1400" b="1" spc="1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r>
                        <a:rPr sz="1400" b="1" spc="9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spc="-50" dirty="0">
                          <a:latin typeface="Times New Roman" pitchFamily="18" charset="0"/>
                          <a:cs typeface="Times New Roman" pitchFamily="18" charset="0"/>
                        </a:rPr>
                        <a:t>&amp; </a:t>
                      </a:r>
                      <a:r>
                        <a:rPr sz="1400" b="1" spc="-20" dirty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9209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 algn="ctr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Methodology Adapted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9209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Times New Roman" pitchFamily="18" charset="0"/>
                          <a:cs typeface="Times New Roman" pitchFamily="18" charset="0"/>
                        </a:rPr>
                        <a:t>Key</a:t>
                      </a:r>
                      <a:r>
                        <a:rPr sz="1400" b="1" spc="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400" b="1" spc="-10" dirty="0">
                          <a:latin typeface="Times New Roman" pitchFamily="18" charset="0"/>
                          <a:cs typeface="Times New Roman" pitchFamily="18" charset="0"/>
                        </a:rPr>
                        <a:t>Findings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4127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Times New Roman" pitchFamily="18" charset="0"/>
                          <a:cs typeface="Times New Roman" pitchFamily="18" charset="0"/>
                        </a:rPr>
                        <a:t>Gaps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4127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95700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238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Machine learning &amp; rule-based embedding techniques for text classification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238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Aubaid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et al.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IJSAEM, 2024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238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Traditional ML + rule-based models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Works well for simple toxicity detection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Fails in detecting contextual/implicit hate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901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36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Deep learning-based NLP in human–agent interaction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Ahmed et al.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NLP Journal, 2024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Deep learning models (CNN, RNN, transformers)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Improves user understanding &amp; contextual analysis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 emotional context integration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9020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49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Hierarchical Sentiment Framework for Hate Speech Detection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Naznin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et al.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ArXiv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2024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Sentiment-driven hierarchical classification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Sentiment clues improve toxicity detection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Does not integrate multi-emotion signals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005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619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Context-Aware Hate Speech Detection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Paul et al.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IJCIS, 2024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ML models with context-based features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Improves accuracy using context-sensitive features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Struggles with subtle emotional nuance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480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Zero-shot Hate Speech Detection via Prompt-Based Learning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Yin et al.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EMNLP, 2022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Zero-shot transformer-based detection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Works well across domains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Performance drops on implicit/sarcastic hate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HateXplain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: Benchmark for Explainable Hate Detection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Mathew et al.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AAAI, 2021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Explainable AI + annotated datasets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Adds transparency and improves trust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High computational cost, limited emotional cues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754" y="529843"/>
            <a:ext cx="47694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</a:t>
            </a:r>
            <a:r>
              <a:rPr spc="-10" dirty="0"/>
              <a:t>E</a:t>
            </a:r>
            <a:r>
              <a:rPr spc="20" dirty="0"/>
              <a:t>S</a:t>
            </a:r>
            <a:r>
              <a:rPr spc="-10" dirty="0"/>
              <a:t>E</a:t>
            </a:r>
            <a:r>
              <a:rPr spc="45" dirty="0"/>
              <a:t>ARC</a:t>
            </a:r>
            <a:r>
              <a:rPr spc="20" dirty="0"/>
              <a:t>H</a:t>
            </a:r>
            <a:r>
              <a:rPr spc="-195" dirty="0"/>
              <a:t> </a:t>
            </a:r>
            <a:r>
              <a:rPr spc="-55" dirty="0"/>
              <a:t>G</a:t>
            </a:r>
            <a:r>
              <a:rPr spc="45" dirty="0"/>
              <a:t>A</a:t>
            </a:r>
            <a:r>
              <a:rPr spc="15" dirty="0"/>
              <a:t>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1754" y="6451049"/>
            <a:ext cx="130276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466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9979026" cy="335765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Most existing studies rely only on text-based features and ignore emotional context, making them weak at detecting subtle or indirect hate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speech.</a:t>
            </a:r>
          </a:p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models lack interpretability and fail to explain why a comment is classified as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hateful.</a:t>
            </a:r>
          </a:p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limited work combining emotion signals with hate detection to improve accuracy and contextual understanding.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940" y="529843"/>
            <a:ext cx="359473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O</a:t>
            </a:r>
            <a:r>
              <a:rPr spc="65" dirty="0"/>
              <a:t>B</a:t>
            </a:r>
            <a:r>
              <a:rPr spc="45" dirty="0"/>
              <a:t>J</a:t>
            </a:r>
            <a:r>
              <a:rPr spc="-15" dirty="0"/>
              <a:t>E</a:t>
            </a:r>
            <a:r>
              <a:rPr spc="45" dirty="0"/>
              <a:t>C</a:t>
            </a:r>
            <a:r>
              <a:rPr spc="-15" dirty="0"/>
              <a:t>T</a:t>
            </a:r>
            <a:r>
              <a:rPr spc="10" dirty="0"/>
              <a:t>I</a:t>
            </a:r>
            <a:r>
              <a:rPr spc="45" dirty="0"/>
              <a:t>V</a:t>
            </a:r>
            <a:r>
              <a:rPr spc="-15" dirty="0"/>
              <a:t>E</a:t>
            </a:r>
            <a:r>
              <a:rPr spc="15"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1828800"/>
            <a:ext cx="9906000" cy="335765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integrate emotional features with text features to improve detection of subtle, indirect, and emotion-driven hate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speech.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develop a more interpretable model that clearly links emotional cues to hate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predictions.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 an emotion-calibrated framework that enhances accuracy and contextual understanding beyond traditional text-only methods.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8904" y="529843"/>
            <a:ext cx="46729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971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981200"/>
            <a:ext cx="10893425" cy="35115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90830" indent="-22923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  <a:tab pos="239458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first preprocess and clean the text, remove noise, and balance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dataset.</a:t>
            </a:r>
          </a:p>
          <a:p>
            <a:pPr marL="241300" marR="290830" indent="-22923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  <a:tab pos="239458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emotion classification model is trained on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dataset to generate emotion labels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41300" marR="290830" indent="-22923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  <a:tab pos="239458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emotion features are combined with the text features from the Jigsaw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dataset.</a:t>
            </a:r>
          </a:p>
          <a:p>
            <a:pPr marL="241300" marR="290830" indent="-229235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  <a:tab pos="2394585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hate detection models are trained on this enriched data to classify comments as hate or non-hate.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9771" y="152400"/>
            <a:ext cx="97269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3950" spc="20" dirty="0"/>
              <a:t>FLOW</a:t>
            </a:r>
            <a:r>
              <a:rPr sz="3950" spc="-25" dirty="0"/>
              <a:t> </a:t>
            </a:r>
            <a:r>
              <a:rPr sz="3950" spc="5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37994" y="6465822"/>
            <a:ext cx="93681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1781" y="6465822"/>
            <a:ext cx="9614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10</a:t>
            </a:fld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762000"/>
            <a:ext cx="3656974" cy="529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529843"/>
            <a:ext cx="824801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spc="-30" dirty="0"/>
              <a:t>Implementation </a:t>
            </a:r>
            <a:r>
              <a:rPr lang="en-IN" sz="3200" spc="-30" dirty="0" err="1"/>
              <a:t>WorkFlow</a:t>
            </a:r>
            <a:endParaRPr sz="3200"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7200" y="6451049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163180" y="644366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10744200" cy="42165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 Data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Collection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Downloaded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(for emotion labels) and Jigsaw Toxic Comments (for hate detection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Converted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single-label format and prepared Jigsaw for binary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classification.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 Preprocessing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Cleaned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text by lowercasing, removing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emojis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/non-ASCII chars, extra spaces, and punctuation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noise.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Tokenized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using model-specific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tokenizers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removed null or empty entries.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Exploratory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Analysis (EDA)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Inspected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 distributions, common tokens, and emotion–hate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overlaps.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Visualized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before/after cleaning stats and identified imbalance issues.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FFFB435-7470-5B47-0F95-6256629A3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90600"/>
            <a:ext cx="10356850" cy="46166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 Data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Balancing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Applied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SMOTE to the Jigsaw dataset to correct hate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non-hate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imbalance.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Verified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balanced class distribution before training hate classifiers.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5. Emotion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Training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multiple emotion classifiers (BERT,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DistilBERT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DistilRoBERTa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LightGBM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FastText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on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GoEmotions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Saved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both predicted emotion labels and emotion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each example.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6. Feature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Extraction &amp; Integration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Extracted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one-hot emotion labels from the best emotion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models.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Merged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emotion features with original text features in the Jigsaw dataset.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xmlns="" id="{383AE66E-50F2-E9A3-3E43-D2CDB748B0F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9D5E6E88-4289-3D7A-52A8-E6A530EC3049}"/>
              </a:ext>
            </a:extLst>
          </p:cNvPr>
          <p:cNvSpPr txBox="1"/>
          <p:nvPr/>
        </p:nvSpPr>
        <p:spPr>
          <a:xfrm>
            <a:off x="3810000" y="6451049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xmlns="" id="{F5F0D675-76A2-925C-85CE-9B11020549A2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xmlns="" id="{DEA047B4-DCED-DAA7-1A33-9B00B2B249D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163180" y="644366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</p:spTree>
    <p:extLst>
      <p:ext uri="{BB962C8B-B14F-4D97-AF65-F5344CB8AC3E}">
        <p14:creationId xmlns:p14="http://schemas.microsoft.com/office/powerpoint/2010/main" xmlns="" val="3542570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DDD0B1-BEF6-3280-D505-9E6730FF2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38200"/>
            <a:ext cx="10356850" cy="50229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7. Hate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Classifier Training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Trained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hate detection models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LightGBM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Feedforward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NN, Logistic Regression) on the enriched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dataset.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Tuned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hyperparameters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AdamW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=2e-5, batch size=16, epochs 3–5) for best performance.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8. Evaluation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 Analysis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Measured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Accuracy, Macro F1, and confusion matrices; performed paired significance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tests.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Compared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emotion-calibrated models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text-only baselines and tested cross-domain on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HateXplain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9. Interpretability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 Insights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Linked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 signals (e.g., anger, disgust) to hate predictions to explain model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decisions.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confusion matrices and class-wise reports to highlight strengths and weaknesses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xmlns="" id="{348E93B5-AC8A-2AAD-4FA3-B80AEC05ACD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xmlns="" id="{94657C11-1227-2A7B-7C7D-D2D01218E77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620000" y="644366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xmlns="" id="{7A60E169-4DA5-AD92-76F9-014B7897BAB1}"/>
              </a:ext>
            </a:extLst>
          </p:cNvPr>
          <p:cNvSpPr txBox="1"/>
          <p:nvPr/>
        </p:nvSpPr>
        <p:spPr>
          <a:xfrm>
            <a:off x="3261799" y="6456547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xmlns="" id="{9D64F90D-84B2-4C42-D9F3-6BED681C084D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14675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Lenovo\AppData\Local\Packages\5319275A.WhatsAppDesktop_cv1g1gvanyjgm\TempState\6E8C73AED0C82FBDCDFF10F2D076E1F5\WhatsApp Image 2025-09-11 at 20.34.28_43368369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10668000" cy="5715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23179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851" y="529843"/>
            <a:ext cx="603504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</a:t>
            </a:r>
            <a:r>
              <a:rPr spc="-10" dirty="0"/>
              <a:t>E</a:t>
            </a:r>
            <a:r>
              <a:rPr spc="20" dirty="0"/>
              <a:t>S</a:t>
            </a:r>
            <a:r>
              <a:rPr spc="45" dirty="0"/>
              <a:t>U</a:t>
            </a:r>
            <a:r>
              <a:rPr spc="-385" dirty="0"/>
              <a:t>L</a:t>
            </a:r>
            <a:r>
              <a:rPr spc="-10" dirty="0"/>
              <a:t>T</a:t>
            </a:r>
            <a:r>
              <a:rPr spc="15" dirty="0"/>
              <a:t>S</a:t>
            </a:r>
            <a:r>
              <a:rPr spc="-120" dirty="0"/>
              <a:t> </a:t>
            </a:r>
            <a:r>
              <a:rPr spc="25" dirty="0"/>
              <a:t>&amp;</a:t>
            </a:r>
            <a:r>
              <a:rPr spc="-290" dirty="0"/>
              <a:t> </a:t>
            </a:r>
            <a:r>
              <a:rPr spc="45" dirty="0"/>
              <a:t>ANA</a:t>
            </a:r>
            <a:r>
              <a:rPr spc="-385" dirty="0"/>
              <a:t>L</a:t>
            </a:r>
            <a:r>
              <a:rPr spc="-25" dirty="0"/>
              <a:t>Y</a:t>
            </a:r>
            <a:r>
              <a:rPr spc="20" dirty="0"/>
              <a:t>S</a:t>
            </a:r>
            <a:r>
              <a:rPr spc="10" dirty="0"/>
              <a:t>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15</a:t>
            </a:fld>
            <a:endParaRPr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5A605D3B-0638-C526-1E8E-2792F92B8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xmlns="" id="{98A503BE-77FC-03E3-8077-B822235D95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xmlns="" id="{527B9390-C550-1ED5-F39E-E3BB7BB04B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600"/>
            <a:ext cx="74930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xmlns="" id="{B9454A5B-4B9E-F231-47BD-8357592336CD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371600" y="1752600"/>
          <a:ext cx="9601200" cy="3733800"/>
        </p:xfrm>
        <a:graphic>
          <a:graphicData uri="http://schemas.openxmlformats.org/drawingml/2006/table">
            <a:tbl>
              <a:tblPr/>
              <a:tblGrid>
                <a:gridCol w="2400300"/>
                <a:gridCol w="2400300"/>
                <a:gridCol w="2400300"/>
                <a:gridCol w="2400300"/>
              </a:tblGrid>
              <a:tr h="622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Emotion Model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Hate Classifier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Macro F1-score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BERT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LightGBM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94.20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0.7410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BERT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BERT (reused)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91.10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0.9110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LightGBM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LightGBM (self)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89.91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0.6200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FastText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FastText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93.41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0.5154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DistilRoBERTa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DistilRoBERTa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96.16</a:t>
                      </a: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0.8800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851" y="529843"/>
            <a:ext cx="603504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</a:t>
            </a:r>
            <a:r>
              <a:rPr spc="-10" dirty="0"/>
              <a:t>E</a:t>
            </a:r>
            <a:r>
              <a:rPr spc="20" dirty="0"/>
              <a:t>S</a:t>
            </a:r>
            <a:r>
              <a:rPr spc="45" dirty="0"/>
              <a:t>U</a:t>
            </a:r>
            <a:r>
              <a:rPr spc="-385" dirty="0"/>
              <a:t>L</a:t>
            </a:r>
            <a:r>
              <a:rPr spc="-10" dirty="0"/>
              <a:t>T</a:t>
            </a:r>
            <a:r>
              <a:rPr spc="15" dirty="0"/>
              <a:t>S</a:t>
            </a:r>
            <a:r>
              <a:rPr spc="-120" dirty="0"/>
              <a:t> </a:t>
            </a:r>
            <a:r>
              <a:rPr spc="25" dirty="0"/>
              <a:t>&amp;</a:t>
            </a:r>
            <a:r>
              <a:rPr spc="-290" dirty="0"/>
              <a:t> </a:t>
            </a:r>
            <a:r>
              <a:rPr spc="45" dirty="0"/>
              <a:t>ANA</a:t>
            </a:r>
            <a:r>
              <a:rPr spc="-385" dirty="0"/>
              <a:t>L</a:t>
            </a:r>
            <a:r>
              <a:rPr spc="-25" dirty="0"/>
              <a:t>Y</a:t>
            </a:r>
            <a:r>
              <a:rPr spc="20" dirty="0"/>
              <a:t>S</a:t>
            </a:r>
            <a:r>
              <a:rPr spc="10" dirty="0"/>
              <a:t>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16</a:t>
            </a:fld>
            <a:endParaRPr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5A605D3B-0638-C526-1E8E-2792F92B8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xmlns="" id="{98A503BE-77FC-03E3-8077-B822235D95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xmlns="" id="{527B9390-C550-1ED5-F39E-E3BB7BB04B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600"/>
            <a:ext cx="74930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xmlns="" id="{B9454A5B-4B9E-F231-47BD-8357592336CD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541019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1600200"/>
            <a:ext cx="5029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685800"/>
            <a:ext cx="100022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/>
              <a:t>CONCLUSION</a:t>
            </a:r>
            <a:r>
              <a:rPr spc="-275"/>
              <a:t> </a:t>
            </a:r>
            <a:endParaRPr spc="25" dirty="0"/>
          </a:p>
        </p:txBody>
      </p:sp>
      <p:sp>
        <p:nvSpPr>
          <p:cNvPr id="5" name="object 5"/>
          <p:cNvSpPr txBox="1"/>
          <p:nvPr/>
        </p:nvSpPr>
        <p:spPr>
          <a:xfrm>
            <a:off x="3886200" y="6451049"/>
            <a:ext cx="1298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28800"/>
            <a:ext cx="8836025" cy="7925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lang="en-IN" sz="4500" dirty="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xmlns="" id="{1F9C0AE2-C930-BDF8-7E6F-BA629184B715}"/>
              </a:ext>
            </a:extLst>
          </p:cNvPr>
          <p:cNvSpPr txBox="1">
            <a:spLocks/>
          </p:cNvSpPr>
          <p:nvPr/>
        </p:nvSpPr>
        <p:spPr>
          <a:xfrm>
            <a:off x="890756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xmlns="" id="{85548720-C0D2-13A1-66BD-E666D39671B9}"/>
              </a:ext>
            </a:extLst>
          </p:cNvPr>
          <p:cNvSpPr txBox="1"/>
          <p:nvPr/>
        </p:nvSpPr>
        <p:spPr>
          <a:xfrm>
            <a:off x="5335587" y="6456857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43000" y="1447800"/>
            <a:ext cx="9677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Our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project successfully improved hate speech detection by integrating emotional features with text-based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emotion-calibrated framework achieved higher accuracy and detected subtle, indirect hate more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effectively.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approach also enhanced model interpretability by linking emotional cues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predictions.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Overall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the system provides a more reliable and context-aware solution for online content moderation.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533400"/>
            <a:ext cx="100022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65" smtClean="0"/>
              <a:t> </a:t>
            </a:r>
            <a:r>
              <a:rPr spc="25" smtClean="0"/>
              <a:t>FUTURE</a:t>
            </a:r>
            <a:r>
              <a:rPr spc="-250" smtClean="0"/>
              <a:t> </a:t>
            </a:r>
            <a:r>
              <a:rPr spc="25" smtClean="0"/>
              <a:t>SCOPE</a:t>
            </a:r>
            <a:endParaRPr spc="25" dirty="0"/>
          </a:p>
        </p:txBody>
      </p:sp>
      <p:sp>
        <p:nvSpPr>
          <p:cNvPr id="5" name="object 5"/>
          <p:cNvSpPr txBox="1"/>
          <p:nvPr/>
        </p:nvSpPr>
        <p:spPr>
          <a:xfrm>
            <a:off x="3886200" y="6451049"/>
            <a:ext cx="1298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28800"/>
            <a:ext cx="8836025" cy="7925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lang="en-IN" sz="4500" dirty="0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xmlns="" id="{1F9C0AE2-C930-BDF8-7E6F-BA629184B715}"/>
              </a:ext>
            </a:extLst>
          </p:cNvPr>
          <p:cNvSpPr txBox="1">
            <a:spLocks/>
          </p:cNvSpPr>
          <p:nvPr/>
        </p:nvSpPr>
        <p:spPr>
          <a:xfrm>
            <a:off x="890756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xmlns="" id="{85548720-C0D2-13A1-66BD-E666D39671B9}"/>
              </a:ext>
            </a:extLst>
          </p:cNvPr>
          <p:cNvSpPr txBox="1"/>
          <p:nvPr/>
        </p:nvSpPr>
        <p:spPr>
          <a:xfrm>
            <a:off x="5335587" y="6456857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95400" y="1752600"/>
            <a:ext cx="9144000" cy="3892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system can be extended to multilingual datasets and real-time moderation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platforms.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Future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improvements may include multimodal analysis using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emojis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audio tone, or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images.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Bias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mitigation and explainable AI techniques can further increase fairness and transparency.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7910" y="529843"/>
            <a:ext cx="380746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59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2805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336357"/>
            <a:ext cx="10283825" cy="43816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Aubaid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et al.,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Machine Learning and Rule-Based Techniques for Text Classification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IJSAEM,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2024.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Ahmed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et al.,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Deep Learning-Based NLP in Human–Agent Interaction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NLP Journal,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2024.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Naznin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et al.,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Hierarchical Sentiment-Based Hate Speech Detection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arXiv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2024.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Mathew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et al.,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HateXplain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: Explainable Hate Speech Detection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AAAI,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2021.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Devlin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et al.,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BERT: Pre-training of Deep Bidirectional Transformers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NAACL, 2019.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887050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971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20</a:t>
            </a:fld>
            <a:endParaRPr dirty="0"/>
          </a:p>
        </p:txBody>
      </p:sp>
      <p:sp>
        <p:nvSpPr>
          <p:cNvPr id="4098" name="AutoShape 2" descr="Images – Browse 504 Stock Photo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Images – Browse 504 Stock Photo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2" name="Picture 6" descr="Any Questions&quot; Images – Browse 504 Stock Photos, Vectors, and Video | Adobe  Sto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838200"/>
            <a:ext cx="8305800" cy="51911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106600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600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CG8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pPr marL="38100">
                <a:lnSpc>
                  <a:spcPts val="1410"/>
                </a:lnSpc>
              </a:pPr>
              <a:t>21</a:t>
            </a:fld>
            <a:endParaRPr dirty="0"/>
          </a:p>
        </p:txBody>
      </p:sp>
      <p:pic>
        <p:nvPicPr>
          <p:cNvPr id="3074" name="Picture 2" descr="Thank You Letter Danger: 5 Things You Should Never Include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685800"/>
            <a:ext cx="8229600" cy="54891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1097</TotalTime>
  <Words>1469</Words>
  <Application>Microsoft Office PowerPoint</Application>
  <PresentationFormat>Custom</PresentationFormat>
  <Paragraphs>275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Department of Computer Science and Engineering Rethinking Artificial Empathy with Emotion-Calibrated Hate Detection Models</vt:lpstr>
      <vt:lpstr>OUTLINE</vt:lpstr>
      <vt:lpstr>ABSTRACT</vt:lpstr>
      <vt:lpstr>INTRODUCTION</vt:lpstr>
      <vt:lpstr>PROBLEM STATEMENT</vt:lpstr>
      <vt:lpstr>LITERATURE SURVEY</vt:lpstr>
      <vt:lpstr>RESEARCH GAPS</vt:lpstr>
      <vt:lpstr>OBJECTIVES</vt:lpstr>
      <vt:lpstr>METHODOLOGY</vt:lpstr>
      <vt:lpstr>FLOW DIAGRAM</vt:lpstr>
      <vt:lpstr>Implementation WorkFlow</vt:lpstr>
      <vt:lpstr>Slide 12</vt:lpstr>
      <vt:lpstr>Slide 13</vt:lpstr>
      <vt:lpstr>Slide 14</vt:lpstr>
      <vt:lpstr>RESULTS &amp; ANALYSIS</vt:lpstr>
      <vt:lpstr>RESULTS &amp; ANALYSIS</vt:lpstr>
      <vt:lpstr>CONCLUSION </vt:lpstr>
      <vt:lpstr> FUTURE SCOPE</vt:lpstr>
      <vt:lpstr>REFERENCES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LakshmiDurgamma Amarthaluri</dc:creator>
  <cp:lastModifiedBy>Lenovo</cp:lastModifiedBy>
  <cp:revision>32</cp:revision>
  <dcterms:created xsi:type="dcterms:W3CDTF">2024-03-31T16:53:22Z</dcterms:created>
  <dcterms:modified xsi:type="dcterms:W3CDTF">2025-12-04T13:19:10Z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2023-12-24T00:00:00Z</vt:filetime>
  </property>
  <property fmtid="{D5CDD505-2E9C-101B-9397-08002B2CF9AE}" pid="3" name="LastSaved">
    <vt:filetime>2024-03-31T00:00:00Z</vt:filetime>
  </property>
</Properties>
</file>